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b6032ce-1fa2-ff1c-4dec-10f63cc15fea}">
          <p14:sldIdLst>
            <p14:sldId id="256"/>
            <p14:sldId id="257"/>
            <p14:sldId id="258"/>
          </p14:sldIdLst>
        </p14:section>
        <p14:section name="PART 1 캔바 이해하기" id="{1078ce84-1abb-d83c-65c1-b14126b79282}">
          <p14:sldIdLst>
            <p14:sldId id="259"/>
            <p14:sldId id="260"/>
            <p14:sldId id="261"/>
            <p14:sldId id="262"/>
            <p14:sldId id="263"/>
          </p14:sldIdLst>
        </p14:section>
        <p14:section name="PART 2 기본 기능 익히기" id="{84b9e1b1-b36b-6dea-b89c-442d4bdcfe8b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PART 3 수업 자료 만들기" id="{a976eafe-08ee-96c6-62fc-6412fb21fc8e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ART 4 학생 참여 수업" id="{4d4bae5c-0d7e-10f5-60e1-359570033185}">
          <p14:sldIdLst>
            <p14:sldId id="276"/>
            <p14:sldId id="277"/>
            <p14:sldId id="278"/>
            <p14:sldId id="279"/>
            <p14:sldId id="280"/>
          </p14:sldIdLst>
        </p14:section>
        <p14:section name="PART 5 AI 기능과 유의사항" id="{77618995-20d8-e88d-3bf3-f4ff136de85a}">
          <p14:sldIdLst>
            <p14:sldId id="281"/>
            <p14:sldId id="282"/>
            <p14:sldId id="283"/>
          </p14:sldIdLst>
        </p14:section>
        <p14:section name="PART 6 실습과 마무리" id="{fe01a7da-f71e-e4cb-8705-a1180b5cfa1b}">
          <p14:sldIdLst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연수 소개. 오늘은 캔바 계정 만들기부터 수업 자료 제작, 학생과 함께하는 협업 수업, AI 기능과 유의사항까지 다룹니다. 노트북과 계정을 미리 준비해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연수 목표 3가지를 안내합니다. 각 목표는 뒤쪽 실습 미션과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흐름을 안내합니다. 이론 40분, 실습 60분, 질의응답 20분 정도로 운영합니다.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캔바는 웹 브라우저와 앱에서 쓰는 온라인 디자인 도구입니다. 설치 없이 템플릿을 고르고 드래그만으로 디자인할 수 있다는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 입장에서는 자료 제작 시간 단축, 학생 입장에서는 표현 도구와 협업 경험이 가장 큰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초중고 교사 인증을 받으면 Canva for Education을 무료로 쓸 수 있습니다. 학생은 교사가 만든 클래스로 초대받아 함께 사용합니다. 세부 기능은 정책에 따라 바뀔 수 있으니 공식 페이지를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인증 심사에 시간이 걸릴 수 있으니 연수 전에 미리 신청하도록 안내합니다. 승인되지 않은 경우 일반 무료 계정으로 실습해도 대부분의 기능은 체험할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캔바 편집 화면을 띄우고 번호 순서대로 위치를 짚어 줍니다. 왼쪽 사이드바가 거의 모든 기능의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검색창에 학년·교과·용도를 함께 입력하면 원하는 템플릿을 빠르게 찾을 수 있습니다. 영어 키워드로도 검색해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기능을 직접 시연합니다. 특히 ‘위치’ 메뉴의 정렬·레이어 기능을 알면 디자인이 훨씬 깔끔해집니다.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기준이며 Mac은 Ctrl 대신 Cmd를 사용합니다. 슬래시(/) 키는 빠른 작업 메뉴를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인쇄용 학습지는 ‘PDF 인쇄’, 영상은 MP4를 선택합니다. 학생에게 나눠 줄 때는 원본이 훼손되지 않도록 ‘템플릿 링크’를 꼭 활용하세요.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캔바 프레젠테이션은 발표자 보기, 발표 녹화 기능이 있어 원격 수업이나 거꾸로 수업 영상 제작에도 활용됩니다.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 문서 크기로 시작해 인쇄용 PDF로 내보냅니다. 같은 학습지를 디지털로 배포하면 학생이 캔바에서 바로 작성할 수도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교사용 게시물뿐 아니라 학생 결과물로도 자주 쓰입니다. 정보 정리 능력과 시각적 표현을 동시에 기를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캔바 동영상 편집기는 타임라인 기반이라 초보자도 쉽게 다룹니다. 학생 프로젝트 발표 영상, 수업 안내 영상 등에 활용합니다.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화이트보드는 끝없이 넓어지는 캔버스입니다. 모둠별 영역을 미리 나누어 두면 활동이 혼란스럽지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학생은 교사의 초대를 통해 교육용 계정을 받습니다. 구글 클래스룸 등 이미 쓰는 LMS가 있다면 연동하는 것이 가장 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교사가 만든 템플릿을 과제로 배포하면 학생마다 사본이 생성됩니다. 제출된 결과물에 댓글로 피드백하고, 학생이 수정해 다시 제출하는 순환 구조를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교과별 예시입니다. 참가 선생님들께 자기 교과에서 쓸 아이디어를 하나씩 말해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예시는 중학교 사회 ‘우리 지역 홍보 포스터’ 수업입니다. 막대 길이는 시간 비율을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이름과 제공 범위는 자주 바뀝니다. 학생 계정의 AI 기능은 관리자 또는 교사 설정에 따라 제한될 수 있으니 수업 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캔바 소스는 캔바 이용 약관 범위 안에서 사용할 수 있습니다. 상업적 이용, 로고·상표 사용은 별도 확인이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1은 필수, 2·3은 선택입니다. 완성작은 연수 클래스에 제출해 서로 감상합니다.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연수에서 자주 나오는 질문입니다. 정책 관련 답변은 캔바 공식 도움말 센터에서 최신 내용을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세 가지를 다시 짚고 질의응답을 진행합니다. 연수 클래스는 연수 후에도 유지되니 자료를 계속 공유해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body" hasCustomPrompt="1"/>
          </p:nvPr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5" type="body" hasCustomPrompt="1"/>
          </p:nvPr>
        </p:nvSpPr>
        <p:spPr>
          <a:xfrm>
            <a:off x="54864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>
            <p:ph idx="106" type="body" hasCustomPrompt="1"/>
          </p:nvPr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캔바(Canva) 활용 교사 연수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body" hasCustomPrompt="1"/>
          </p:nvPr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2026 교원 디지털 역량 강화 연수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수업이 달라지는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캔바(Canva) 활용법</a:t>
            </a:r>
            <a:endParaRPr lang="en-US" sz="3800" dirty="0"/>
          </a:p>
        </p:txBody>
      </p:sp>
      <p:sp>
        <p:nvSpPr>
          <p:cNvPr id="4" name="Text 0"/>
          <p:cNvSpPr/>
          <p:nvPr>
            <p:ph idx="105" type="body" hasCustomPrompt="1"/>
          </p:nvPr>
        </p:nvSpPr>
        <p:spPr>
          <a:xfrm>
            <a:off x="54864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디자인 초보 선생님도 바로 쓰는 수업 자료 제작과 학생 참여 수업</a:t>
            </a:r>
            <a:endParaRPr lang="en-US" sz="1600" dirty="0"/>
          </a:p>
        </p:txBody>
      </p:sp>
      <p:sp>
        <p:nvSpPr>
          <p:cNvPr id="5" name="Text 0"/>
          <p:cNvSpPr/>
          <p:nvPr>
            <p:ph idx="106" type="body" hasCustomPrompt="1"/>
          </p:nvPr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연수 시간 약 120분  ·  실습 포함</a:t>
            </a:r>
            <a:endParaRPr lang="en-US" sz="1200" dirty="0"/>
          </a:p>
        </p:txBody>
      </p:sp>
      <p:sp>
        <p:nvSpPr>
          <p:cNvPr id="6" name="icon-bg"/>
          <p:cNvSpPr/>
          <p:nvPr/>
        </p:nvSpPr>
        <p:spPr>
          <a:xfrm>
            <a:off x="7406640" y="822960"/>
            <a:ext cx="1463040" cy="14630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188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INTRO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오늘 연수가 끝나면 이렇게 됩니다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직접 만든다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템플릿을 활용해 수업용 슬라이드·학습지·포스터를 10분 안에 제작합니다.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4173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함께 만든다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클래스를 개설하고 과제를 배포해 학생과 실시간으로 협업합니다.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41732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3093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바르게 쓴다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6974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기능, 저작권, 개인정보 보호 원칙을 알고 안전하게 활용합니다.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연수 순서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527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캔바 이해하기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교육용 무료 혜택과 가입·인증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4709160" y="141732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37760" y="14173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5270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기본 기능 익히기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화면 구성, 편집, 단축키, 공유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57200" y="251460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514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6243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수업 자료 만들기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PPT·학습지·포스터·영상·화이트보드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4709160" y="251460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37760" y="2514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04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26243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학생 참여 수업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클래스, 과제 배포, 교과별 아이디어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457200" y="361188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611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05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721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기능과 유의사항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매직 기능, 저작권, 개인정보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4709160" y="3611880"/>
            <a:ext cx="39776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937760" y="3611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37216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실습과 마무리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실습 미션, 자주 묻는 질문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01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캔바 이해하기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캔바가 무엇인지, 왜 교실에서 쓰는지,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교사 무료 계정을 어떻게 만드는지 알아봅니다.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1 · 캔바 이해하기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캔바(Canva)란?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누구나 쉽게 쓰는 온라인 디자인 플랫폼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설치 없이 웹 브라우저·모바일 앱에서 바로 사용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수많은 템플릿·사진·아이콘·폰트를 드래그로 편집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프레젠테이션, 문서, 영상, 화이트보드까지 한 곳에서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링크 하나로 공유하고 여러 명이 동시에 편집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120640" y="1417320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49240" y="14173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100+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지원 언어 (한국어 포함)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120640" y="2441448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49240" y="244144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0원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44144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K-12 교사·학생 교육용 요금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120640" y="3465576"/>
            <a:ext cx="3566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349240" y="3465576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1개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346557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계정으로 PC·태블릿·스마트폰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1 · 캔바 이해하기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왜 교실에서 캔바인가?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97764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7259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제작 시간 단축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94560"/>
            <a:ext cx="3611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검증된 템플릿으로 시작해 자료 준비 시간을 크게 줄입니다.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709160" y="1417320"/>
            <a:ext cx="397764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7259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협업과 소통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194560"/>
            <a:ext cx="3611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모둠 전원이 하나의 디자인을 동시에 편집하고 댓글로 피드백합니다.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086100"/>
            <a:ext cx="397764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40080" y="32689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3947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32689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학생 표현력 향상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" y="3863340"/>
            <a:ext cx="3611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글쓰기만 어려운 학생도 이미지·영상으로 생각을 표현합니다.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709160" y="3086100"/>
            <a:ext cx="397764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1" name="icon-bg"/>
          <p:cNvSpPr/>
          <p:nvPr/>
        </p:nvSpPr>
        <p:spPr>
          <a:xfrm>
            <a:off x="4892040" y="32689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0" y="339471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32689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어디서나 접근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4892040" y="3863340"/>
            <a:ext cx="3611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크롬북, 태블릿, 스마트폰 등 학교 기기 환경에 상관없이 사용합니다.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1 · 캔바 이해하기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Canva for Education: 교사·학생 무료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0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일반 무료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0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교육용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10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640"/>
                          </a:solidFill>
                        </a:rPr>
                        <a:t>기본 템플릿·편집 기능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6680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D2AE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640"/>
                          </a:solidFill>
                        </a:rPr>
                        <a:t>프리미엄 템플릿·사진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668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D2AE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640"/>
                          </a:solidFill>
                        </a:rPr>
                        <a:t>배경 제거 등 프로 기능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668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D2AE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640"/>
                          </a:solidFill>
                        </a:rPr>
                        <a:t>클래스·과제·피드백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668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D2AE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E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640"/>
                          </a:solidFill>
                        </a:rPr>
                        <a:t>구글 클래스룸 등 연동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668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D2AE8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6263640" y="1417320"/>
            <a:ext cx="2423160" cy="2743200"/>
          </a:xfrm>
          <a:prstGeom prst="roundRect">
            <a:avLst>
              <a:gd name="adj" fmla="val 4528"/>
            </a:avLst>
          </a:prstGeom>
          <a:solidFill>
            <a:schemeClr val="tx2"/>
          </a:solidFill>
          <a:ln/>
        </p:spPr>
      </p:sp>
      <p:sp>
        <p:nvSpPr>
          <p:cNvPr id="7" name="icon-bg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830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46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핵심 포인트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6446520" y="27432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교사 인증 한 번으로 우리 반 학생 모두 프리미엄 기능을 무료로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1 · 캔바 이해하기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가입과 교사 인증 4단계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6" name="step-num-bg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접속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canva.com/education 접속 후 ‘교사’로 시작하기</a:t>
            </a:r>
            <a:endParaRPr lang="en-US" sz="1300" dirty="0"/>
          </a:p>
        </p:txBody>
      </p:sp>
      <p:pic>
        <p:nvPicPr>
          <p:cNvPr id="10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2583180"/>
            <a:ext cx="182880" cy="182880"/>
          </a:xfrm>
          <a:prstGeom prst="rect">
            <a:avLst/>
          </a:prstGeom>
        </p:spPr>
      </p:pic>
      <p:sp>
        <p:nvSpPr>
          <p:cNvPr id="11" name="card"/>
          <p:cNvSpPr/>
          <p:nvPr/>
        </p:nvSpPr>
        <p:spPr>
          <a:xfrm>
            <a:off x="259461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12" name="step-num-bg"/>
          <p:cNvSpPr/>
          <p:nvPr/>
        </p:nvSpPr>
        <p:spPr>
          <a:xfrm>
            <a:off x="277749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77749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77749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계정 만들기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77749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학교 이메일 또는 구글 계정으로 가입</a:t>
            </a:r>
            <a:endParaRPr lang="en-US" sz="1300" dirty="0"/>
          </a:p>
        </p:txBody>
      </p:sp>
      <p:pic>
        <p:nvPicPr>
          <p:cNvPr id="16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83180"/>
            <a:ext cx="182880" cy="18288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473202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18" name="step-num-bg"/>
          <p:cNvSpPr/>
          <p:nvPr/>
        </p:nvSpPr>
        <p:spPr>
          <a:xfrm>
            <a:off x="491490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9149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91490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재직 증빙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91490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재직증명서 등 교사 확인 서류 업로드</a:t>
            </a:r>
            <a:endParaRPr lang="en-US" sz="1300" dirty="0"/>
          </a:p>
        </p:txBody>
      </p:sp>
      <p:pic>
        <p:nvPicPr>
          <p:cNvPr id="22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583180"/>
            <a:ext cx="182880" cy="182880"/>
          </a:xfrm>
          <a:prstGeom prst="rect">
            <a:avLst/>
          </a:prstGeom>
        </p:spPr>
      </p:pic>
      <p:sp>
        <p:nvSpPr>
          <p:cNvPr id="23" name="card"/>
          <p:cNvSpPr/>
          <p:nvPr/>
        </p:nvSpPr>
        <p:spPr>
          <a:xfrm>
            <a:off x="686943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24" name="step-num-bg"/>
          <p:cNvSpPr/>
          <p:nvPr/>
        </p:nvSpPr>
        <p:spPr>
          <a:xfrm>
            <a:off x="7052310" y="1737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05231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05231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승인·사용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05231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승인 메일 확인 후 교육용 기능 활성화</a:t>
            </a:r>
            <a:endParaRPr lang="en-US" sz="1300" dirty="0"/>
          </a:p>
        </p:txBody>
      </p:sp>
      <p:sp>
        <p:nvSpPr>
          <p:cNvPr id="28" name="tip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승인까지 시간이 걸릴 수 있어요. 연수 며칠 전에 미리 신청하세요.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02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기본 기능 익히기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화면 구성, 템플릿 검색, 편집 기초, 단축키,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다운로드와 공유 방법을 익힙니다.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 · 기본 기능 익히기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 화면 한눈에 보기</a:t>
            </a:r>
            <a:endParaRPr lang="en-US" sz="2800" dirty="0"/>
          </a:p>
        </p:txBody>
      </p:sp>
      <p:sp>
        <p:nvSpPr>
          <p:cNvPr id="5" name="mock-frame"/>
          <p:cNvSpPr/>
          <p:nvPr/>
        </p:nvSpPr>
        <p:spPr>
          <a:xfrm>
            <a:off x="457200" y="1417320"/>
            <a:ext cx="45720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mock-top"/>
          <p:cNvSpPr/>
          <p:nvPr/>
        </p:nvSpPr>
        <p:spPr>
          <a:xfrm>
            <a:off x="502920" y="1463040"/>
            <a:ext cx="4480560" cy="3657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mock-rail"/>
          <p:cNvSpPr/>
          <p:nvPr/>
        </p:nvSpPr>
        <p:spPr>
          <a:xfrm>
            <a:off x="502920" y="1874520"/>
            <a:ext cx="411480" cy="26060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mock-rail-icon"/>
          <p:cNvSpPr/>
          <p:nvPr/>
        </p:nvSpPr>
        <p:spPr>
          <a:xfrm>
            <a:off x="594360" y="2011680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9" name="mock-rail-icon"/>
          <p:cNvSpPr/>
          <p:nvPr/>
        </p:nvSpPr>
        <p:spPr>
          <a:xfrm>
            <a:off x="594360" y="2395728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10" name="mock-rail-icon"/>
          <p:cNvSpPr/>
          <p:nvPr/>
        </p:nvSpPr>
        <p:spPr>
          <a:xfrm>
            <a:off x="594360" y="2779776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11" name="mock-rail-icon"/>
          <p:cNvSpPr/>
          <p:nvPr/>
        </p:nvSpPr>
        <p:spPr>
          <a:xfrm>
            <a:off x="594360" y="3163824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12" name="mock-rail-icon"/>
          <p:cNvSpPr/>
          <p:nvPr/>
        </p:nvSpPr>
        <p:spPr>
          <a:xfrm>
            <a:off x="594360" y="3547872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13" name="mock-rail-icon"/>
          <p:cNvSpPr/>
          <p:nvPr/>
        </p:nvSpPr>
        <p:spPr>
          <a:xfrm>
            <a:off x="594360" y="3931920"/>
            <a:ext cx="228600" cy="228600"/>
          </a:xfrm>
          <a:prstGeom prst="ellipse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14" name="mock-panel"/>
          <p:cNvSpPr/>
          <p:nvPr/>
        </p:nvSpPr>
        <p:spPr>
          <a:xfrm>
            <a:off x="960120" y="1874520"/>
            <a:ext cx="1051560" cy="2606040"/>
          </a:xfrm>
          <a:prstGeom prst="rect">
            <a:avLst/>
          </a:prstGeom>
          <a:solidFill>
            <a:schemeClr val="bg1">
              <a:alpha val="70000"/>
            </a:schemeClr>
          </a:solidFill>
          <a:ln/>
        </p:spPr>
      </p:sp>
      <p:sp>
        <p:nvSpPr>
          <p:cNvPr id="15" name="mock-thumb"/>
          <p:cNvSpPr/>
          <p:nvPr/>
        </p:nvSpPr>
        <p:spPr>
          <a:xfrm>
            <a:off x="1051560" y="2011680"/>
            <a:ext cx="868680" cy="438912"/>
          </a:xfrm>
          <a:prstGeom prst="roundRect">
            <a:avLst>
              <a:gd name="adj" fmla="val 10417"/>
            </a:avLst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16" name="mock-thumb"/>
          <p:cNvSpPr/>
          <p:nvPr/>
        </p:nvSpPr>
        <p:spPr>
          <a:xfrm>
            <a:off x="1051560" y="2560320"/>
            <a:ext cx="868680" cy="438912"/>
          </a:xfrm>
          <a:prstGeom prst="roundRect">
            <a:avLst>
              <a:gd name="adj" fmla="val 10417"/>
            </a:avLst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17" name="mock-thumb"/>
          <p:cNvSpPr/>
          <p:nvPr/>
        </p:nvSpPr>
        <p:spPr>
          <a:xfrm>
            <a:off x="1051560" y="3108960"/>
            <a:ext cx="868680" cy="438912"/>
          </a:xfrm>
          <a:prstGeom prst="roundRect">
            <a:avLst>
              <a:gd name="adj" fmla="val 10417"/>
            </a:avLst>
          </a:prstGeom>
          <a:solidFill>
            <a:schemeClr val="accent3">
              <a:alpha val="45000"/>
            </a:schemeClr>
          </a:solidFill>
          <a:ln/>
        </p:spPr>
      </p:sp>
      <p:sp>
        <p:nvSpPr>
          <p:cNvPr id="18" name="mock-thumb"/>
          <p:cNvSpPr/>
          <p:nvPr/>
        </p:nvSpPr>
        <p:spPr>
          <a:xfrm>
            <a:off x="1051560" y="3657600"/>
            <a:ext cx="868680" cy="438912"/>
          </a:xfrm>
          <a:prstGeom prst="roundRect">
            <a:avLst>
              <a:gd name="adj" fmla="val 10417"/>
            </a:avLst>
          </a:prstGeom>
          <a:solidFill>
            <a:schemeClr val="accent4">
              <a:alpha val="45000"/>
            </a:schemeClr>
          </a:solidFill>
          <a:ln/>
        </p:spPr>
      </p:sp>
      <p:sp>
        <p:nvSpPr>
          <p:cNvPr id="19" name="mock-canvas"/>
          <p:cNvSpPr/>
          <p:nvPr/>
        </p:nvSpPr>
        <p:spPr>
          <a:xfrm>
            <a:off x="2240280" y="2103120"/>
            <a:ext cx="2560320" cy="146304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</p:sp>
      <p:sp>
        <p:nvSpPr>
          <p:cNvPr id="20" name="mock-heading"/>
          <p:cNvSpPr/>
          <p:nvPr/>
        </p:nvSpPr>
        <p:spPr>
          <a:xfrm>
            <a:off x="2423160" y="2286000"/>
            <a:ext cx="1463040" cy="201168"/>
          </a:xfrm>
          <a:prstGeom prst="roundRect">
            <a:avLst>
              <a:gd name="adj" fmla="val 22727"/>
            </a:avLst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1" name="mock-shape"/>
          <p:cNvSpPr/>
          <p:nvPr/>
        </p:nvSpPr>
        <p:spPr>
          <a:xfrm>
            <a:off x="3977640" y="2606040"/>
            <a:ext cx="640080" cy="640080"/>
          </a:xfrm>
          <a:prstGeom prst="ellipse">
            <a:avLst/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22" name="mock-page"/>
          <p:cNvSpPr/>
          <p:nvPr/>
        </p:nvSpPr>
        <p:spPr>
          <a:xfrm>
            <a:off x="2423160" y="3840480"/>
            <a:ext cx="731520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mock-page"/>
          <p:cNvSpPr/>
          <p:nvPr/>
        </p:nvSpPr>
        <p:spPr>
          <a:xfrm>
            <a:off x="3291840" y="3840480"/>
            <a:ext cx="731520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4" name="mock-page"/>
          <p:cNvSpPr/>
          <p:nvPr/>
        </p:nvSpPr>
        <p:spPr>
          <a:xfrm>
            <a:off x="4160520" y="3840480"/>
            <a:ext cx="731520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</p:spPr>
      </p:sp>
      <p:sp>
        <p:nvSpPr>
          <p:cNvPr id="25" name="badge"/>
          <p:cNvSpPr/>
          <p:nvPr/>
        </p:nvSpPr>
        <p:spPr>
          <a:xfrm>
            <a:off x="4526280" y="1481328"/>
            <a:ext cx="329184" cy="32918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badge"/>
          <p:cNvSpPr/>
          <p:nvPr/>
        </p:nvSpPr>
        <p:spPr>
          <a:xfrm>
            <a:off x="731520" y="1920240"/>
            <a:ext cx="329184" cy="32918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1920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badge"/>
          <p:cNvSpPr/>
          <p:nvPr/>
        </p:nvSpPr>
        <p:spPr>
          <a:xfrm>
            <a:off x="4617720" y="1965960"/>
            <a:ext cx="329184" cy="32918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77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badge"/>
          <p:cNvSpPr/>
          <p:nvPr/>
        </p:nvSpPr>
        <p:spPr>
          <a:xfrm>
            <a:off x="4617720" y="3886200"/>
            <a:ext cx="329184" cy="329184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1772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legend-num"/>
          <p:cNvSpPr/>
          <p:nvPr/>
        </p:nvSpPr>
        <p:spPr>
          <a:xfrm>
            <a:off x="5349240" y="14630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349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852160" y="142646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상단 메뉴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파일 · 크기 조정 · 공유 · 다운로드</a:t>
            </a:r>
            <a:endParaRPr lang="en-US" sz="1600" dirty="0"/>
          </a:p>
        </p:txBody>
      </p:sp>
      <p:sp>
        <p:nvSpPr>
          <p:cNvPr id="36" name="legend-num"/>
          <p:cNvSpPr/>
          <p:nvPr/>
        </p:nvSpPr>
        <p:spPr>
          <a:xfrm>
            <a:off x="5349240" y="224028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3492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852160" y="220370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사이드바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디자인 · 요소 · 텍스트 · 업로드</a:t>
            </a:r>
            <a:endParaRPr lang="en-US" sz="1600" dirty="0"/>
          </a:p>
        </p:txBody>
      </p:sp>
      <p:sp>
        <p:nvSpPr>
          <p:cNvPr id="39" name="legend-num"/>
          <p:cNvSpPr/>
          <p:nvPr/>
        </p:nvSpPr>
        <p:spPr>
          <a:xfrm>
            <a:off x="5349240" y="301752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349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5852160" y="298094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편집 캔버스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클릭·드래그로 바로 편집</a:t>
            </a:r>
            <a:endParaRPr lang="en-US" sz="1600" dirty="0"/>
          </a:p>
        </p:txBody>
      </p:sp>
      <p:sp>
        <p:nvSpPr>
          <p:cNvPr id="42" name="legend-num"/>
          <p:cNvSpPr/>
          <p:nvPr/>
        </p:nvSpPr>
        <p:spPr>
          <a:xfrm>
            <a:off x="5349240" y="379476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3492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852160" y="3758184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페이지 영역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페이지 추가 · 순서 변경 · 메모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 · 기본 기능 익히기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템플릿, 검색어가 반이다</a:t>
            </a:r>
            <a:endParaRPr lang="en-US" sz="2800" dirty="0"/>
          </a:p>
        </p:txBody>
      </p:sp>
      <p:sp>
        <p:nvSpPr>
          <p:cNvPr id="5" name="search-bar"/>
          <p:cNvSpPr/>
          <p:nvPr/>
        </p:nvSpPr>
        <p:spPr>
          <a:xfrm>
            <a:off x="457200" y="1417320"/>
            <a:ext cx="8229600" cy="594360"/>
          </a:xfrm>
          <a:prstGeom prst="roundRect">
            <a:avLst>
              <a:gd name="adj" fmla="val 4923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search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중학교 과학 학습지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추천 검색어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1737360" y="2194560"/>
            <a:ext cx="83713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737360" y="2194560"/>
            <a:ext cx="8371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학습지</a:t>
            </a:r>
            <a:endParaRPr lang="en-US" sz="1300" dirty="0"/>
          </a:p>
        </p:txBody>
      </p:sp>
      <p:sp>
        <p:nvSpPr>
          <p:cNvPr id="11" name="chip"/>
          <p:cNvSpPr/>
          <p:nvPr/>
        </p:nvSpPr>
        <p:spPr>
          <a:xfrm>
            <a:off x="2711653" y="2194560"/>
            <a:ext cx="102138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711653" y="2194560"/>
            <a:ext cx="1021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수업 PPT</a:t>
            </a:r>
            <a:endParaRPr lang="en-US" sz="1300" dirty="0"/>
          </a:p>
        </p:txBody>
      </p:sp>
      <p:sp>
        <p:nvSpPr>
          <p:cNvPr id="13" name="chip"/>
          <p:cNvSpPr/>
          <p:nvPr/>
        </p:nvSpPr>
        <p:spPr>
          <a:xfrm>
            <a:off x="3870198" y="2194560"/>
            <a:ext cx="109865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870198" y="2194560"/>
            <a:ext cx="10986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학급 규칙</a:t>
            </a:r>
            <a:endParaRPr lang="en-US" sz="1300" dirty="0"/>
          </a:p>
        </p:txBody>
      </p:sp>
      <p:sp>
        <p:nvSpPr>
          <p:cNvPr id="15" name="chip"/>
          <p:cNvSpPr/>
          <p:nvPr/>
        </p:nvSpPr>
        <p:spPr>
          <a:xfrm>
            <a:off x="5106010" y="2194560"/>
            <a:ext cx="127101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106010" y="219456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독서 기록장</a:t>
            </a:r>
            <a:endParaRPr lang="en-US" sz="1300" dirty="0"/>
          </a:p>
        </p:txBody>
      </p:sp>
      <p:sp>
        <p:nvSpPr>
          <p:cNvPr id="17" name="chip"/>
          <p:cNvSpPr/>
          <p:nvPr/>
        </p:nvSpPr>
        <p:spPr>
          <a:xfrm>
            <a:off x="6514186" y="2194560"/>
            <a:ext cx="112242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514186" y="2194560"/>
            <a:ext cx="1122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worksheet</a:t>
            </a:r>
            <a:endParaRPr lang="en-US" sz="1300" dirty="0"/>
          </a:p>
        </p:txBody>
      </p:sp>
      <p:sp>
        <p:nvSpPr>
          <p:cNvPr id="19" name="chip"/>
          <p:cNvSpPr/>
          <p:nvPr/>
        </p:nvSpPr>
        <p:spPr>
          <a:xfrm>
            <a:off x="1737360" y="2697480"/>
            <a:ext cx="130073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737360" y="2697480"/>
            <a:ext cx="13007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infographic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57200" y="278892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2" name="icon-bg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086100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008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필터 활용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스타일·색상·주제 필터로 범위를 좁힙니다.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3291840" y="278892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7" name="icon-bg"/>
          <p:cNvSpPr/>
          <p:nvPr/>
        </p:nvSpPr>
        <p:spPr>
          <a:xfrm>
            <a:off x="3474720" y="2971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30861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그대로 말고 바꿔서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34747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글꼴·색만 바꿔도 우리 반 자료가 됩니다.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6126480" y="2788920"/>
            <a:ext cx="25603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2" name="icon-bg"/>
          <p:cNvSpPr/>
          <p:nvPr/>
        </p:nvSpPr>
        <p:spPr>
          <a:xfrm>
            <a:off x="6309360" y="29718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3086100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3093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즐겨찾기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3093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좋은 템플릿은 별표로 저장해 두세요.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 · 기본 기능 익히기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편집 기초 6가지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텍스트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제목·본문 추가, 글꼴과 효과 적용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233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요소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도형·아이콘·스티커·표·차트 삽입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145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사진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무료 사진 검색, 프레임에 끌어 넣기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1" name="icon-bg"/>
          <p:cNvSpPr/>
          <p:nvPr/>
        </p:nvSpPr>
        <p:spPr>
          <a:xfrm>
            <a:off x="640080" y="32689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8328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업로드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 사진·영상·PDF 불러와 편집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329184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6" name="icon-bg"/>
          <p:cNvSpPr/>
          <p:nvPr/>
        </p:nvSpPr>
        <p:spPr>
          <a:xfrm>
            <a:off x="3474720" y="32689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3832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02336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위치·정렬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347472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앞뒤 순서, 가운데 정렬, 간격 맞춤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12648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31" name="icon-bg"/>
          <p:cNvSpPr/>
          <p:nvPr/>
        </p:nvSpPr>
        <p:spPr>
          <a:xfrm>
            <a:off x="6309360" y="3268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38328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5800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애니메이션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630936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등장 효과와 페이지 전환 설정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 · 기본 기능 익히기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알아두면 편한 단축키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key"/>
          <p:cNvSpPr/>
          <p:nvPr/>
        </p:nvSpPr>
        <p:spPr>
          <a:xfrm>
            <a:off x="640080" y="155448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54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385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텍스트 상자 추가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00400" y="141732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key"/>
          <p:cNvSpPr/>
          <p:nvPr/>
        </p:nvSpPr>
        <p:spPr>
          <a:xfrm>
            <a:off x="3383280" y="155448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83280" y="1554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/ C / 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9385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사각형 / 원 / 선 추가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46888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4" name="key"/>
          <p:cNvSpPr/>
          <p:nvPr/>
        </p:nvSpPr>
        <p:spPr>
          <a:xfrm>
            <a:off x="640080" y="260604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606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990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선택한 요소 복제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3200400" y="246888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8" name="key"/>
          <p:cNvSpPr/>
          <p:nvPr/>
        </p:nvSpPr>
        <p:spPr>
          <a:xfrm>
            <a:off x="3383280" y="260604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26060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383280" y="29900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그룹으로 묶기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57200" y="352044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2" name="key"/>
          <p:cNvSpPr/>
          <p:nvPr/>
        </p:nvSpPr>
        <p:spPr>
          <a:xfrm>
            <a:off x="640080" y="365760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657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클릭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0416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여러 요소 동시 선택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3200400" y="3520440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6" name="key"/>
          <p:cNvSpPr/>
          <p:nvPr/>
        </p:nvSpPr>
        <p:spPr>
          <a:xfrm>
            <a:off x="3383280" y="3657600"/>
            <a:ext cx="214884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83280" y="36576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Z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383280" y="40416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실행 취소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126480" y="1417320"/>
            <a:ext cx="2560320" cy="297180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/>
        </p:spPr>
      </p:sp>
      <p:sp>
        <p:nvSpPr>
          <p:cNvPr id="30" name="slash-key"/>
          <p:cNvSpPr/>
          <p:nvPr/>
        </p:nvSpPr>
        <p:spPr>
          <a:xfrm>
            <a:off x="6903720" y="1691640"/>
            <a:ext cx="1005840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037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44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빠른 작업 메뉴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32918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편집 화면에서 / 를 누르면 요소 추가·AI 기능을 바로 검색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2 · 기본 기능 익히기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다운로드와 공유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716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다운로드 형식</a:t>
            </a:r>
            <a:endParaRPr lang="en-US" sz="1800" dirty="0"/>
          </a:p>
        </p:txBody>
      </p:sp>
      <p:sp>
        <p:nvSpPr>
          <p:cNvPr id="9" name="chip"/>
          <p:cNvSpPr/>
          <p:nvPr/>
        </p:nvSpPr>
        <p:spPr>
          <a:xfrm>
            <a:off x="685800" y="237744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PNG</a:t>
            </a:r>
            <a:endParaRPr lang="en-US" sz="1300" dirty="0"/>
          </a:p>
        </p:txBody>
      </p:sp>
      <p:sp>
        <p:nvSpPr>
          <p:cNvPr id="11" name="chip"/>
          <p:cNvSpPr/>
          <p:nvPr/>
        </p:nvSpPr>
        <p:spPr>
          <a:xfrm>
            <a:off x="1463040" y="237744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4630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JPG</a:t>
            </a:r>
            <a:endParaRPr lang="en-US" sz="1300" dirty="0"/>
          </a:p>
        </p:txBody>
      </p:sp>
      <p:sp>
        <p:nvSpPr>
          <p:cNvPr id="13" name="chip"/>
          <p:cNvSpPr/>
          <p:nvPr/>
        </p:nvSpPr>
        <p:spPr>
          <a:xfrm>
            <a:off x="2240280" y="2377440"/>
            <a:ext cx="1021385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2240280" y="2377440"/>
            <a:ext cx="1021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PDF 표준</a:t>
            </a:r>
            <a:endParaRPr lang="en-US" sz="1300" dirty="0"/>
          </a:p>
        </p:txBody>
      </p:sp>
      <p:sp>
        <p:nvSpPr>
          <p:cNvPr id="15" name="chip"/>
          <p:cNvSpPr/>
          <p:nvPr/>
        </p:nvSpPr>
        <p:spPr>
          <a:xfrm>
            <a:off x="685800" y="2880360"/>
            <a:ext cx="1021385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85800" y="2880360"/>
            <a:ext cx="1021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PDF 인쇄</a:t>
            </a:r>
            <a:endParaRPr lang="en-US" sz="1300" dirty="0"/>
          </a:p>
        </p:txBody>
      </p:sp>
      <p:sp>
        <p:nvSpPr>
          <p:cNvPr id="17" name="chip"/>
          <p:cNvSpPr/>
          <p:nvPr/>
        </p:nvSpPr>
        <p:spPr>
          <a:xfrm>
            <a:off x="1844345" y="288036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844345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MP4</a:t>
            </a:r>
            <a:endParaRPr lang="en-US" sz="1300" dirty="0"/>
          </a:p>
        </p:txBody>
      </p:sp>
      <p:sp>
        <p:nvSpPr>
          <p:cNvPr id="19" name="chip"/>
          <p:cNvSpPr/>
          <p:nvPr/>
        </p:nvSpPr>
        <p:spPr>
          <a:xfrm>
            <a:off x="2621585" y="2880360"/>
            <a:ext cx="6400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621585" y="2880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GIF</a:t>
            </a:r>
            <a:endParaRPr lang="en-US" sz="1300" dirty="0"/>
          </a:p>
        </p:txBody>
      </p:sp>
      <p:sp>
        <p:nvSpPr>
          <p:cNvPr id="21" name="chip"/>
          <p:cNvSpPr/>
          <p:nvPr/>
        </p:nvSpPr>
        <p:spPr>
          <a:xfrm>
            <a:off x="3398825" y="2880360"/>
            <a:ext cx="676656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398825" y="2880360"/>
            <a:ext cx="676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PPTX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인쇄물은 PDF 인쇄, 영상은 MP4, 한글·파워포인트 편집이 필요하면 PPTX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4709160" y="141732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25" name="icon-bg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71650"/>
            <a:ext cx="251460" cy="2514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57784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공유 방법</a:t>
            </a:r>
            <a:endParaRPr lang="en-US" sz="1800" dirty="0"/>
          </a:p>
        </p:txBody>
      </p:sp>
      <p:sp>
        <p:nvSpPr>
          <p:cNvPr id="28" name="share-row"/>
          <p:cNvSpPr/>
          <p:nvPr/>
        </p:nvSpPr>
        <p:spPr>
          <a:xfrm>
            <a:off x="4937760" y="2377440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120640" y="2377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보기 전용 링크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학부모·학생 안내용</a:t>
            </a:r>
            <a:endParaRPr lang="en-US" sz="1300" dirty="0"/>
          </a:p>
        </p:txBody>
      </p:sp>
      <p:sp>
        <p:nvSpPr>
          <p:cNvPr id="30" name="share-row"/>
          <p:cNvSpPr/>
          <p:nvPr/>
        </p:nvSpPr>
        <p:spPr>
          <a:xfrm>
            <a:off x="4937760" y="3035808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5120640" y="3035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편집 권한 링크 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동료 교사와 공동 제작</a:t>
            </a:r>
            <a:endParaRPr lang="en-US" sz="1300" dirty="0"/>
          </a:p>
        </p:txBody>
      </p:sp>
      <p:sp>
        <p:nvSpPr>
          <p:cNvPr id="32" name="share-row"/>
          <p:cNvSpPr/>
          <p:nvPr/>
        </p:nvSpPr>
        <p:spPr>
          <a:xfrm>
            <a:off x="4937760" y="3694176"/>
            <a:ext cx="35204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120640" y="36941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템플릿 링크 ★  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학생마다 자기 사본 생성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03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수업 자료 만들기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프레젠테이션, 학습지, 포스터, 영상, 화이트보드까지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수업에 바로 쓰는 다섯 가지 자료를 만들어 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3 · 수업 자료 만들기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수업용 프레젠테이션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657600" cy="3063240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제작 순서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‘프레젠테이션’ 템플릿 선택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학습 목표 → 활동 → 정리 순으로 페이지 구성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글은 짧게, 이미지는 크게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애니메이션은 핵심 장면에만</a:t>
            </a:r>
            <a:endParaRPr lang="en-US" sz="1500" dirty="0"/>
          </a:p>
        </p:txBody>
      </p:sp>
      <p:sp>
        <p:nvSpPr>
          <p:cNvPr id="8" name="icon-bg"/>
          <p:cNvSpPr/>
          <p:nvPr/>
        </p:nvSpPr>
        <p:spPr>
          <a:xfrm>
            <a:off x="448056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290" y="16344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66360" y="148132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발표자 보기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다음 슬라이드와 메모를 보면서 수업 진행</a:t>
            </a:r>
            <a:endParaRPr lang="en-US" sz="1600" dirty="0"/>
          </a:p>
        </p:txBody>
      </p:sp>
      <p:sp>
        <p:nvSpPr>
          <p:cNvPr id="11" name="icon-bg"/>
          <p:cNvSpPr/>
          <p:nvPr/>
        </p:nvSpPr>
        <p:spPr>
          <a:xfrm>
            <a:off x="4480560" y="2514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26403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66360" y="248716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발표 녹화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화면과 목소리를 녹화해 복습 영상으로 공유</a:t>
            </a:r>
            <a:endParaRPr lang="en-US" sz="1600" dirty="0"/>
          </a:p>
        </p:txBody>
      </p:sp>
      <p:sp>
        <p:nvSpPr>
          <p:cNvPr id="14" name="icon-bg"/>
          <p:cNvSpPr/>
          <p:nvPr/>
        </p:nvSpPr>
        <p:spPr>
          <a:xfrm>
            <a:off x="4480560" y="35204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290" y="364617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166360" y="3493008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PPTX 내보내기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기존 파워포인트 환경에서도 그대로 사용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3 · 수업 자료 만들기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학습지·워크시트</a:t>
            </a:r>
            <a:endParaRPr lang="en-US" sz="2800" dirty="0"/>
          </a:p>
        </p:txBody>
      </p:sp>
      <p:sp>
        <p:nvSpPr>
          <p:cNvPr id="5" name="icon-bg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5887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4356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A4 문서로 시작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‘A4 문서’ 또는 ‘학습지’ 템플릿 선택</a:t>
            </a:r>
            <a:endParaRPr lang="en-US" sz="1600" dirty="0"/>
          </a:p>
        </p:txBody>
      </p:sp>
      <p:sp>
        <p:nvSpPr>
          <p:cNvPr id="8" name="icon-bg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36601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221284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표·체크리스트 요소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요소 메뉴에서 표, 체크박스, 빈칸 상자 추가</a:t>
            </a:r>
            <a:endParaRPr lang="en-US" sz="1600" dirty="0"/>
          </a:p>
        </p:txBody>
      </p:sp>
      <p:sp>
        <p:nvSpPr>
          <p:cNvPr id="11" name="icon-bg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143250"/>
            <a:ext cx="251460" cy="2514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" y="299008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PDF 인쇄로 저장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선명한 인쇄를 위해 ‘PDF 인쇄’ 형식 선택</a:t>
            </a:r>
            <a:endParaRPr lang="en-US" sz="1600" dirty="0"/>
          </a:p>
        </p:txBody>
      </p:sp>
      <p:sp>
        <p:nvSpPr>
          <p:cNvPr id="14" name="icon-bg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920490"/>
            <a:ext cx="251460" cy="25146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43000" y="37673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디지털 학습지로 배포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템플릿 링크로 공유하면 학생이 직접 작성</a:t>
            </a:r>
            <a:endParaRPr lang="en-US" sz="1600" dirty="0"/>
          </a:p>
        </p:txBody>
      </p:sp>
      <p:sp>
        <p:nvSpPr>
          <p:cNvPr id="17" name="sheet"/>
          <p:cNvSpPr/>
          <p:nvPr/>
        </p:nvSpPr>
        <p:spPr>
          <a:xfrm>
            <a:off x="5943600" y="1371600"/>
            <a:ext cx="2377440" cy="3154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8" name="sheet-head"/>
          <p:cNvSpPr/>
          <p:nvPr/>
        </p:nvSpPr>
        <p:spPr>
          <a:xfrm>
            <a:off x="6126480" y="1554480"/>
            <a:ext cx="201168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12648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관찰 기록지</a:t>
            </a:r>
            <a:endParaRPr lang="en-US" sz="1300" dirty="0"/>
          </a:p>
        </p:txBody>
      </p:sp>
      <p:sp>
        <p:nvSpPr>
          <p:cNvPr id="20" name="sheet-box"/>
          <p:cNvSpPr/>
          <p:nvPr/>
        </p:nvSpPr>
        <p:spPr>
          <a:xfrm>
            <a:off x="6172200" y="2194560"/>
            <a:ext cx="182880" cy="182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heet-line"/>
          <p:cNvSpPr/>
          <p:nvPr/>
        </p:nvSpPr>
        <p:spPr>
          <a:xfrm>
            <a:off x="6492240" y="2286000"/>
            <a:ext cx="1600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22" name="sheet-box"/>
          <p:cNvSpPr/>
          <p:nvPr/>
        </p:nvSpPr>
        <p:spPr>
          <a:xfrm>
            <a:off x="6172200" y="2606040"/>
            <a:ext cx="182880" cy="182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eet-line"/>
          <p:cNvSpPr/>
          <p:nvPr/>
        </p:nvSpPr>
        <p:spPr>
          <a:xfrm>
            <a:off x="6492240" y="2697480"/>
            <a:ext cx="1600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24" name="sheet-box"/>
          <p:cNvSpPr/>
          <p:nvPr/>
        </p:nvSpPr>
        <p:spPr>
          <a:xfrm>
            <a:off x="6172200" y="3017520"/>
            <a:ext cx="182880" cy="182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sheet-line"/>
          <p:cNvSpPr/>
          <p:nvPr/>
        </p:nvSpPr>
        <p:spPr>
          <a:xfrm>
            <a:off x="6492240" y="3108960"/>
            <a:ext cx="1600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26" name="sheet-box"/>
          <p:cNvSpPr/>
          <p:nvPr/>
        </p:nvSpPr>
        <p:spPr>
          <a:xfrm>
            <a:off x="6172200" y="3429000"/>
            <a:ext cx="182880" cy="182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sheet-line"/>
          <p:cNvSpPr/>
          <p:nvPr/>
        </p:nvSpPr>
        <p:spPr>
          <a:xfrm>
            <a:off x="6492240" y="3520440"/>
            <a:ext cx="1600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</a:ln>
        </p:spPr>
      </p:sp>
      <p:sp>
        <p:nvSpPr>
          <p:cNvPr id="28" name="sheet-note"/>
          <p:cNvSpPr/>
          <p:nvPr/>
        </p:nvSpPr>
        <p:spPr>
          <a:xfrm>
            <a:off x="6172200" y="3840480"/>
            <a:ext cx="192024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3 · 수업 자료 만들기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포스터·인포그래픽·카드뉴스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학급 게시물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학급 규칙, 행사 안내, 가정통신 이미지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인포그래픽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조사 결과를 차트·아이콘으로 한 장에 정리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417320"/>
            <a:ext cx="25603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30936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카드뉴스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697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독서 감상, 진로 탐색을 5~6장 카드로 구성</a:t>
            </a:r>
            <a:endParaRPr lang="en-US" sz="1400" dirty="0"/>
          </a:p>
        </p:txBody>
      </p:sp>
      <p:sp>
        <p:nvSpPr>
          <p:cNvPr id="20" name="tip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‘매직 스위치(크기 조정)’로 포스터를 카드뉴스·SNS 크기로 한 번에 변환할 수 있어요.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3 · 수업 자료 만들기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동영상 만들기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6" name="step-num-bg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소스 준비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촬영 영상 업로드 또는 무료 영상·사진 검색</a:t>
            </a:r>
            <a:endParaRPr lang="en-US" sz="1300" dirty="0"/>
          </a:p>
        </p:txBody>
      </p:sp>
      <p:pic>
        <p:nvPicPr>
          <p:cNvPr id="10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2583180"/>
            <a:ext cx="182880" cy="182880"/>
          </a:xfrm>
          <a:prstGeom prst="rect">
            <a:avLst/>
          </a:prstGeom>
        </p:spPr>
      </p:pic>
      <p:sp>
        <p:nvSpPr>
          <p:cNvPr id="11" name="card"/>
          <p:cNvSpPr/>
          <p:nvPr/>
        </p:nvSpPr>
        <p:spPr>
          <a:xfrm>
            <a:off x="259461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12" name="step-num-bg"/>
          <p:cNvSpPr/>
          <p:nvPr/>
        </p:nvSpPr>
        <p:spPr>
          <a:xfrm>
            <a:off x="277749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77749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77749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컷 편집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77749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타임라인에서 자르고 순서 바꾸기</a:t>
            </a:r>
            <a:endParaRPr lang="en-US" sz="1300" dirty="0"/>
          </a:p>
        </p:txBody>
      </p:sp>
      <p:pic>
        <p:nvPicPr>
          <p:cNvPr id="16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83180"/>
            <a:ext cx="182880" cy="18288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473202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18" name="step-num-bg"/>
          <p:cNvSpPr/>
          <p:nvPr/>
        </p:nvSpPr>
        <p:spPr>
          <a:xfrm>
            <a:off x="491490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9149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491490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자막·음악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91490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텍스트 자막, 배경음악, 전환 효과 추가</a:t>
            </a:r>
            <a:endParaRPr lang="en-US" sz="1300" dirty="0"/>
          </a:p>
        </p:txBody>
      </p:sp>
      <p:pic>
        <p:nvPicPr>
          <p:cNvPr id="22" name="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583180"/>
            <a:ext cx="182880" cy="182880"/>
          </a:xfrm>
          <a:prstGeom prst="rect">
            <a:avLst/>
          </a:prstGeom>
        </p:spPr>
      </p:pic>
      <p:sp>
        <p:nvSpPr>
          <p:cNvPr id="23" name="card"/>
          <p:cNvSpPr/>
          <p:nvPr/>
        </p:nvSpPr>
        <p:spPr>
          <a:xfrm>
            <a:off x="6869430" y="1554480"/>
            <a:ext cx="1817370" cy="224028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/>
        </p:spPr>
      </p:sp>
      <p:sp>
        <p:nvSpPr>
          <p:cNvPr id="24" name="step-num-bg"/>
          <p:cNvSpPr/>
          <p:nvPr/>
        </p:nvSpPr>
        <p:spPr>
          <a:xfrm>
            <a:off x="7052310" y="1737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05231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052310" y="2377440"/>
            <a:ext cx="145161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MP4 저장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052310" y="2788920"/>
            <a:ext cx="14516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다운로드 후 클래스룸·패들렛에 공유</a:t>
            </a:r>
            <a:endParaRPr lang="en-US" sz="1300" dirty="0"/>
          </a:p>
        </p:txBody>
      </p:sp>
      <p:sp>
        <p:nvSpPr>
          <p:cNvPr id="28" name="tip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주의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학생 얼굴이 나오는 영상은 공개 범위를 반드시 ‘링크가 있는 사람’ 이하로 제한하세요.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3 · 수업 자료 만들기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화이트보드로 함께 생각하기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291840" cy="3063240"/>
          </a:xfrm>
          <a:prstGeom prst="roundRect">
            <a:avLst>
              <a:gd name="adj" fmla="val 3582"/>
            </a:avLst>
          </a:prstGeom>
          <a:solidFill>
            <a:schemeClr val="accent1"/>
          </a:solidFill>
          <a:ln/>
        </p:spPr>
      </p:sp>
      <p:sp>
        <p:nvSpPr>
          <p:cNvPr id="6" name="icon-bg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516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514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무한 캔버스에서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반 전체가 동시에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브레인스토밍 · 모둠 토의 · 생각 정리</a:t>
            </a:r>
            <a:endParaRPr lang="en-US" sz="1400" dirty="0"/>
          </a:p>
        </p:txBody>
      </p:sp>
      <p:sp>
        <p:nvSpPr>
          <p:cNvPr id="10" name="icon-bg"/>
          <p:cNvSpPr/>
          <p:nvPr/>
        </p:nvSpPr>
        <p:spPr>
          <a:xfrm>
            <a:off x="41148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530" y="158877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00600" y="143560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포스트잇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학생마다 색을 정해 의견을 붙이기</a:t>
            </a:r>
            <a:endParaRPr lang="en-US" sz="1600" dirty="0"/>
          </a:p>
        </p:txBody>
      </p:sp>
      <p:sp>
        <p:nvSpPr>
          <p:cNvPr id="13" name="icon-bg"/>
          <p:cNvSpPr/>
          <p:nvPr/>
        </p:nvSpPr>
        <p:spPr>
          <a:xfrm>
            <a:off x="4114800" y="222199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530" y="2347722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00600" y="21945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모둠별 영역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도형으로 구역을 나누고 모둠 이름 표시</a:t>
            </a:r>
            <a:endParaRPr lang="en-US" sz="1600" dirty="0"/>
          </a:p>
        </p:txBody>
      </p:sp>
      <p:sp>
        <p:nvSpPr>
          <p:cNvPr id="16" name="icon-bg"/>
          <p:cNvSpPr/>
          <p:nvPr/>
        </p:nvSpPr>
        <p:spPr>
          <a:xfrm>
            <a:off x="4114800" y="2980944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30" y="3106674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800600" y="295351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타이머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활동 시간을 화면에 띄워 집중 유도</a:t>
            </a:r>
            <a:endParaRPr lang="en-US" sz="1600" dirty="0"/>
          </a:p>
        </p:txBody>
      </p:sp>
      <p:sp>
        <p:nvSpPr>
          <p:cNvPr id="19" name="icon-bg"/>
          <p:cNvSpPr/>
          <p:nvPr/>
        </p:nvSpPr>
        <p:spPr>
          <a:xfrm>
            <a:off x="4114800" y="37398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530" y="3865626"/>
            <a:ext cx="251460" cy="2514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800600" y="3712464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스티커 투표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좋은 아이디어에 스티커로 투표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04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학생 참여 수업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클래스를 만들고 과제를 배포해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학생과 함께 만드는 수업을 설계합니다.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4 · 학생 참여 수업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클래스 만들고 학생 초대하기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554480"/>
            <a:ext cx="2529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step-num-bg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클래스 생성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88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홈 화면 ‘사람’ 메뉴에서 새 클래스 만들기</a:t>
            </a:r>
            <a:endParaRPr lang="en-US" sz="1300" dirty="0"/>
          </a:p>
        </p:txBody>
      </p:sp>
      <p:pic>
        <p:nvPicPr>
          <p:cNvPr id="10" name="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5620" y="2377440"/>
            <a:ext cx="182880" cy="182880"/>
          </a:xfrm>
          <a:prstGeom prst="rect">
            <a:avLst/>
          </a:prstGeom>
        </p:spPr>
      </p:pic>
      <p:sp>
        <p:nvSpPr>
          <p:cNvPr id="11" name="card"/>
          <p:cNvSpPr/>
          <p:nvPr/>
        </p:nvSpPr>
        <p:spPr>
          <a:xfrm>
            <a:off x="3307080" y="1554480"/>
            <a:ext cx="2529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step-num-bg"/>
          <p:cNvSpPr/>
          <p:nvPr/>
        </p:nvSpPr>
        <p:spPr>
          <a:xfrm>
            <a:off x="348996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89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489960" y="2377440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학생 초대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89960" y="2788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초대 링크·이메일 또는 LMS로 학생 추가</a:t>
            </a:r>
            <a:endParaRPr lang="en-US" sz="1300" dirty="0"/>
          </a:p>
        </p:txBody>
      </p:sp>
      <p:pic>
        <p:nvPicPr>
          <p:cNvPr id="16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2377440"/>
            <a:ext cx="182880" cy="182880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6156960" y="1554480"/>
            <a:ext cx="25298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8" name="step-num-bg"/>
          <p:cNvSpPr/>
          <p:nvPr/>
        </p:nvSpPr>
        <p:spPr>
          <a:xfrm>
            <a:off x="633984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339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39840" y="2377440"/>
            <a:ext cx="216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모둠 구성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39840" y="2788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필요 시 그룹을 만들어 폴더·디자인 공유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연동 가능한 LMS</a:t>
            </a:r>
            <a:endParaRPr lang="en-US" sz="1400" dirty="0"/>
          </a:p>
        </p:txBody>
      </p:sp>
      <p:sp>
        <p:nvSpPr>
          <p:cNvPr id="23" name="chip"/>
          <p:cNvSpPr/>
          <p:nvPr/>
        </p:nvSpPr>
        <p:spPr>
          <a:xfrm>
            <a:off x="2194560" y="3611880"/>
            <a:ext cx="163677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2194560" y="36118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Google Classroom</a:t>
            </a:r>
            <a:endParaRPr lang="en-US" sz="1200" dirty="0"/>
          </a:p>
        </p:txBody>
      </p:sp>
      <p:sp>
        <p:nvSpPr>
          <p:cNvPr id="25" name="chip"/>
          <p:cNvSpPr/>
          <p:nvPr/>
        </p:nvSpPr>
        <p:spPr>
          <a:xfrm>
            <a:off x="3968496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3968496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Microsoft Teams</a:t>
            </a:r>
            <a:endParaRPr lang="en-US" sz="1200" dirty="0"/>
          </a:p>
        </p:txBody>
      </p:sp>
      <p:sp>
        <p:nvSpPr>
          <p:cNvPr id="27" name="chip"/>
          <p:cNvSpPr/>
          <p:nvPr/>
        </p:nvSpPr>
        <p:spPr>
          <a:xfrm>
            <a:off x="5660136" y="3611880"/>
            <a:ext cx="81381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660136" y="36118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Canvas</a:t>
            </a:r>
            <a:endParaRPr lang="en-US" sz="1200" dirty="0"/>
          </a:p>
        </p:txBody>
      </p:sp>
      <p:sp>
        <p:nvSpPr>
          <p:cNvPr id="29" name="chip"/>
          <p:cNvSpPr/>
          <p:nvPr/>
        </p:nvSpPr>
        <p:spPr>
          <a:xfrm>
            <a:off x="6611112" y="3611880"/>
            <a:ext cx="106070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611112" y="361188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Schoology</a:t>
            </a:r>
            <a:endParaRPr lang="en-US" sz="1200" dirty="0"/>
          </a:p>
        </p:txBody>
      </p:sp>
      <p:sp>
        <p:nvSpPr>
          <p:cNvPr id="31" name="chip"/>
          <p:cNvSpPr/>
          <p:nvPr/>
        </p:nvSpPr>
        <p:spPr>
          <a:xfrm>
            <a:off x="7808976" y="3611880"/>
            <a:ext cx="81381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808976" y="36118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Moodle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메뉴 이름과 위치는 캔바 업데이트에 따라 달라질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4 · 학생 참여 수업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과제 배포부터 피드백까지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508760"/>
            <a:ext cx="1426464" cy="20116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868680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1842516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42316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템플릿 제작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8803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교사</a:t>
            </a:r>
            <a:endParaRPr lang="en-US" sz="1200" dirty="0"/>
          </a:p>
        </p:txBody>
      </p:sp>
      <p:pic>
        <p:nvPicPr>
          <p:cNvPr id="10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395728"/>
            <a:ext cx="201168" cy="201168"/>
          </a:xfrm>
          <a:prstGeom prst="rect">
            <a:avLst/>
          </a:prstGeom>
        </p:spPr>
      </p:pic>
      <p:sp>
        <p:nvSpPr>
          <p:cNvPr id="11" name="card"/>
          <p:cNvSpPr/>
          <p:nvPr/>
        </p:nvSpPr>
        <p:spPr>
          <a:xfrm>
            <a:off x="2157984" y="1508760"/>
            <a:ext cx="1426464" cy="20116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2" name="icon-bg"/>
          <p:cNvSpPr/>
          <p:nvPr/>
        </p:nvSpPr>
        <p:spPr>
          <a:xfrm>
            <a:off x="2569464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340" y="1842516"/>
            <a:ext cx="301752" cy="3017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249424" y="242316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과제로 배포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2249424" y="28803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교사</a:t>
            </a:r>
            <a:endParaRPr lang="en-US" sz="1200" dirty="0"/>
          </a:p>
        </p:txBody>
      </p:sp>
      <p:pic>
        <p:nvPicPr>
          <p:cNvPr id="16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395728"/>
            <a:ext cx="201168" cy="201168"/>
          </a:xfrm>
          <a:prstGeom prst="rect">
            <a:avLst/>
          </a:prstGeom>
        </p:spPr>
      </p:pic>
      <p:sp>
        <p:nvSpPr>
          <p:cNvPr id="17" name="card"/>
          <p:cNvSpPr/>
          <p:nvPr/>
        </p:nvSpPr>
        <p:spPr>
          <a:xfrm>
            <a:off x="3858768" y="1508760"/>
            <a:ext cx="1426464" cy="20116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18" name="student-outline"/>
          <p:cNvSpPr/>
          <p:nvPr/>
        </p:nvSpPr>
        <p:spPr>
          <a:xfrm>
            <a:off x="3858768" y="1508760"/>
            <a:ext cx="1426464" cy="2011680"/>
          </a:xfrm>
          <a:prstGeom prst="roundRect">
            <a:avLst>
              <a:gd name="adj" fmla="val 7692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4270248" y="169164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1842516"/>
            <a:ext cx="301752" cy="30175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950208" y="242316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사본에서 작업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3950208" y="28803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학생</a:t>
            </a:r>
            <a:endParaRPr lang="en-US" sz="1200" dirty="0"/>
          </a:p>
        </p:txBody>
      </p:sp>
      <p:pic>
        <p:nvPicPr>
          <p:cNvPr id="23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2395728"/>
            <a:ext cx="201168" cy="201168"/>
          </a:xfrm>
          <a:prstGeom prst="rect">
            <a:avLst/>
          </a:prstGeom>
        </p:spPr>
      </p:pic>
      <p:sp>
        <p:nvSpPr>
          <p:cNvPr id="24" name="card"/>
          <p:cNvSpPr/>
          <p:nvPr/>
        </p:nvSpPr>
        <p:spPr>
          <a:xfrm>
            <a:off x="5559552" y="1508760"/>
            <a:ext cx="1426464" cy="20116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/>
        </p:spPr>
      </p:sp>
      <p:sp>
        <p:nvSpPr>
          <p:cNvPr id="25" name="student-outline"/>
          <p:cNvSpPr/>
          <p:nvPr/>
        </p:nvSpPr>
        <p:spPr>
          <a:xfrm>
            <a:off x="5559552" y="1508760"/>
            <a:ext cx="1426464" cy="2011680"/>
          </a:xfrm>
          <a:prstGeom prst="roundRect">
            <a:avLst>
              <a:gd name="adj" fmla="val 7692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26" name="icon-bg"/>
          <p:cNvSpPr/>
          <p:nvPr/>
        </p:nvSpPr>
        <p:spPr>
          <a:xfrm>
            <a:off x="5971032" y="169164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08" y="1842516"/>
            <a:ext cx="301752" cy="30175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5650992" y="242316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제출</a:t>
            </a:r>
            <a:endParaRPr lang="en-US" sz="1500" dirty="0"/>
          </a:p>
        </p:txBody>
      </p:sp>
      <p:sp>
        <p:nvSpPr>
          <p:cNvPr id="29" name="Text 19"/>
          <p:cNvSpPr txBox="1"/>
          <p:nvPr/>
        </p:nvSpPr>
        <p:spPr>
          <a:xfrm>
            <a:off x="5650992" y="28803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학생</a:t>
            </a:r>
            <a:endParaRPr lang="en-US" sz="1200" dirty="0"/>
          </a:p>
        </p:txBody>
      </p:sp>
      <p:pic>
        <p:nvPicPr>
          <p:cNvPr id="30" name="arrow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592" y="2395728"/>
            <a:ext cx="201168" cy="201168"/>
          </a:xfrm>
          <a:prstGeom prst="rect">
            <a:avLst/>
          </a:prstGeom>
        </p:spPr>
      </p:pic>
      <p:sp>
        <p:nvSpPr>
          <p:cNvPr id="31" name="card"/>
          <p:cNvSpPr/>
          <p:nvPr/>
        </p:nvSpPr>
        <p:spPr>
          <a:xfrm>
            <a:off x="7260336" y="1508760"/>
            <a:ext cx="1426464" cy="201168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32" name="icon-bg"/>
          <p:cNvSpPr/>
          <p:nvPr/>
        </p:nvSpPr>
        <p:spPr>
          <a:xfrm>
            <a:off x="7671816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2692" y="1842516"/>
            <a:ext cx="301752" cy="30175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51776" y="242316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댓글 피드백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7351776" y="28803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교사</a:t>
            </a:r>
            <a:endParaRPr lang="en-US" sz="1200" dirty="0"/>
          </a:p>
        </p:txBody>
      </p:sp>
      <p:sp>
        <p:nvSpPr>
          <p:cNvPr id="36" name="tip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accent3">
              <a:alpha val="25000"/>
            </a:schemeClr>
          </a:solidFill>
          <a:ln/>
        </p:spPr>
      </p:sp>
      <p:sp>
        <p:nvSpPr>
          <p:cNvPr id="37" name="Text 25"/>
          <p:cNvSpPr txBox="1"/>
          <p:nvPr/>
        </p:nvSpPr>
        <p:spPr>
          <a:xfrm>
            <a:off x="685800" y="3886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TIP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피드백 후 학생이 수정해 다시 제출하는 ‘수정 → 재제출’ 순환을 1회 이상 넣어 보세요.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4 · 학생 참여 수업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교과별 활용 아이디어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국어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책 표지 다시 만들기, 인물 SNS 프로필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233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수학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통계 인포그래픽, 도형 개념 카드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145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사회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지역 홍보 포스터, 역사 타임라인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1" name="icon-bg"/>
          <p:cNvSpPr/>
          <p:nvPr/>
        </p:nvSpPr>
        <p:spPr>
          <a:xfrm>
            <a:off x="640080" y="32689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8328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과학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실험 보고서, 생태계 관계도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329184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6" name="icon-bg"/>
          <p:cNvSpPr/>
          <p:nvPr/>
        </p:nvSpPr>
        <p:spPr>
          <a:xfrm>
            <a:off x="3474720" y="32689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3832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02336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영어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347472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자기소개 영상, 여행 브로슈어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12648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31" name="icon-bg"/>
          <p:cNvSpPr/>
          <p:nvPr/>
        </p:nvSpPr>
        <p:spPr>
          <a:xfrm>
            <a:off x="6309360" y="3268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38328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5800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미술·창체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630936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캠페인 포스터, 진로 명함 디자인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4 · 학생 참여 수업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40분 수업 흐름 예시</a:t>
            </a:r>
            <a:endParaRPr lang="en-US" sz="2800" dirty="0"/>
          </a:p>
        </p:txBody>
      </p:sp>
      <p:sp>
        <p:nvSpPr>
          <p:cNvPr id="5" name="timeline-bar"/>
          <p:cNvSpPr/>
          <p:nvPr/>
        </p:nvSpPr>
        <p:spPr>
          <a:xfrm>
            <a:off x="493776" y="1554480"/>
            <a:ext cx="955548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554480"/>
            <a:ext cx="102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5분</a:t>
            </a:r>
            <a:endParaRPr lang="en-US" sz="1500" dirty="0"/>
          </a:p>
        </p:txBody>
      </p:sp>
      <p:sp>
        <p:nvSpPr>
          <p:cNvPr id="7" name="timeline-bar"/>
          <p:cNvSpPr/>
          <p:nvPr/>
        </p:nvSpPr>
        <p:spPr>
          <a:xfrm>
            <a:off x="1522476" y="1554480"/>
            <a:ext cx="1984248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85900" y="15544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10분</a:t>
            </a:r>
            <a:endParaRPr lang="en-US" sz="1500" dirty="0"/>
          </a:p>
        </p:txBody>
      </p:sp>
      <p:sp>
        <p:nvSpPr>
          <p:cNvPr id="9" name="timeline-bar"/>
          <p:cNvSpPr/>
          <p:nvPr/>
        </p:nvSpPr>
        <p:spPr>
          <a:xfrm>
            <a:off x="3579876" y="1554480"/>
            <a:ext cx="3424428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43300" y="1554480"/>
            <a:ext cx="34975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17분</a:t>
            </a:r>
            <a:endParaRPr lang="en-US" sz="1500" dirty="0"/>
          </a:p>
        </p:txBody>
      </p:sp>
      <p:sp>
        <p:nvSpPr>
          <p:cNvPr id="11" name="timeline-bar"/>
          <p:cNvSpPr/>
          <p:nvPr/>
        </p:nvSpPr>
        <p:spPr>
          <a:xfrm>
            <a:off x="7077456" y="1554480"/>
            <a:ext cx="1572768" cy="68580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40880" y="15544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8분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256032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도입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목표 확인, 우수 예시 감상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2583180" y="256032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6606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전개 ①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76606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모둠별 자료 조사, 역할 분담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709160" y="256032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전개 ②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캔바 템플릿으로 포스터 공동 제작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835140" y="256032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18020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정리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01802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갤러리 워크, 댓글 피드백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05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 기능과 유의사항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캔바의 AI(매직) 기능을 살펴보고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저작권·개인정보 보호 원칙을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5 · AI 기능과 유의사항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캔바 AI(매직) 도구 6가지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매직 디자인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주제를 입력하면 디자인 초안 자동 생성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233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매직 라이팅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글 초안 작성, 요약, 문체 바꾸기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126480" y="141732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16" name="icon-bg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145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배경 제거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214884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클릭 한 번으로 사진 배경 지우기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5720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1" name="icon-bg"/>
          <p:cNvSpPr/>
          <p:nvPr/>
        </p:nvSpPr>
        <p:spPr>
          <a:xfrm>
            <a:off x="640080" y="32689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8328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매직 지우개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사진 속 불필요한 물체 지우기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329184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26" name="icon-bg"/>
          <p:cNvSpPr/>
          <p:nvPr/>
        </p:nvSpPr>
        <p:spPr>
          <a:xfrm>
            <a:off x="3474720" y="32689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3832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02336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매직 확장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347472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사진 바깥 영역을 자연스럽게 확장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6126480" y="3086100"/>
            <a:ext cx="2560320" cy="1394460"/>
          </a:xfrm>
          <a:prstGeom prst="roundRect">
            <a:avLst>
              <a:gd name="adj" fmla="val 7869"/>
            </a:avLst>
          </a:prstGeom>
          <a:solidFill>
            <a:schemeClr val="bg2"/>
          </a:solidFill>
          <a:ln/>
        </p:spPr>
      </p:sp>
      <p:sp>
        <p:nvSpPr>
          <p:cNvPr id="31" name="icon-bg"/>
          <p:cNvSpPr/>
          <p:nvPr/>
        </p:nvSpPr>
        <p:spPr>
          <a:xfrm>
            <a:off x="6309360" y="3268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38328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858000" y="32689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번역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6309360" y="3817620"/>
            <a:ext cx="21945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디자인 전체를 다른 언어로 번역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5 · AI 기능과 유의사항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저작권과 개인정보, 이것만은 꼭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6" name="icon-bg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716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저작권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캔바 제공 소스는 약관 범위 안에서 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외부 이미지·음원은 출처와 이용 허락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생성물임을 결과물에 표시하도록 지도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학생 작품의 저작권은 학생에게 있음을 안내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709160" y="141732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11" name="icon-bg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7716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7784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개인정보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937760" y="23317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학생 실명·얼굴 사진 공개 링크 공유 금지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학교 계정으로 클래스 운영, 개인 계정 지양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14세 미만은 학교 방침과 보호자 동의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학기 종료 후 불필요한 클래스·자료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051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PART 06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1920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실습과 마무리</a:t>
            </a:r>
            <a:endParaRPr lang="en-US" sz="36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직접 만들어 보고,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자주 묻는 질문으로 정리합니다.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6 · 실습과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실습 미션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6" name="mission-tag"/>
          <p:cNvSpPr/>
          <p:nvPr/>
        </p:nvSpPr>
        <p:spPr>
          <a:xfrm>
            <a:off x="640080" y="160020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00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15분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수업 PPT 5장 만들기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템플릿 검색 → 글꼴·색 변경 → 사진·아이콘 추가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3291840" y="141732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mission-tag"/>
          <p:cNvSpPr/>
          <p:nvPr/>
        </p:nvSpPr>
        <p:spPr>
          <a:xfrm>
            <a:off x="3474720" y="160020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74720" y="1600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15분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디지털 학습지 배포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A4 학습지 제작 → 템플릿 링크 만들기 → 동료와 교환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126480" y="141732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8" name="mission-tag"/>
          <p:cNvSpPr/>
          <p:nvPr/>
        </p:nvSpPr>
        <p:spPr>
          <a:xfrm>
            <a:off x="6309360" y="160020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1600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3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1600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20분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화이트보드 협업 체험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모둠 영역 나누기 → 포스트잇 의견 → 스티커 투표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 6 · 실습과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자주 묻는 질문</a:t>
            </a:r>
            <a:endParaRPr lang="en-US" sz="2800" dirty="0"/>
          </a:p>
        </p:txBody>
      </p:sp>
      <p:sp>
        <p:nvSpPr>
          <p:cNvPr id="5" name="card"/>
          <p:cNvSpPr/>
          <p:nvPr/>
        </p:nvSpPr>
        <p:spPr>
          <a:xfrm>
            <a:off x="457200" y="1417320"/>
            <a:ext cx="3977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q-badge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교사 인증이 거절됐어요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재직을 확인할 수 있는 서류를 다시 제출하거나 도움말 센터에 문의하세요.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709160" y="1417320"/>
            <a:ext cx="3977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q-badge"/>
          <p:cNvSpPr/>
          <p:nvPr/>
        </p:nvSpPr>
        <p:spPr>
          <a:xfrm>
            <a:off x="489204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920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학생도 가입해야 하나요?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교사가 보낸 클래스 초대로 참여하면 교육용 기능을 함께 씁니다.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3017520"/>
            <a:ext cx="3977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q-badge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한글 글꼴이 깨져요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7033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캔바 기본 한글 글꼴을 쓰고, 공유는 PDF로 하면 안전합니다.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4709160" y="3017520"/>
            <a:ext cx="3977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1" name="q-badge"/>
          <p:cNvSpPr/>
          <p:nvPr/>
        </p:nvSpPr>
        <p:spPr>
          <a:xfrm>
            <a:off x="4892040" y="32004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920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44068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인터넷이 느린 교실이라면?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7033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자료는 미리 PDF·MP4로 내려받아 두고, 협업 활동은 모둠당 1대로 운영하세요.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body" hasCustomPrompt="1"/>
          </p:nvPr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THANK YOU</a:t>
            </a:r>
            <a:endParaRPr lang="en-US" sz="1400" dirty="0"/>
          </a:p>
        </p:txBody>
      </p:sp>
      <p:sp>
        <p:nvSpPr>
          <p:cNvPr id="3" name="Text 0"/>
          <p:cNvSpPr/>
          <p:nvPr>
            <p:ph idx="104" type="title" hasCustomPrompt="1"/>
          </p:nvPr>
        </p:nvSpPr>
        <p:spPr>
          <a:xfrm>
            <a:off x="548640" y="13716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오늘 만든 자료로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내일 수업을 시작하세요</a:t>
            </a:r>
            <a:endParaRPr lang="en-US" sz="3800" dirty="0"/>
          </a:p>
        </p:txBody>
      </p:sp>
      <p:sp>
        <p:nvSpPr>
          <p:cNvPr id="4" name="Text 0"/>
          <p:cNvSpPr/>
          <p:nvPr>
            <p:ph idx="105" type="body" hasCustomPrompt="1"/>
          </p:nvPr>
        </p:nvSpPr>
        <p:spPr>
          <a:xfrm>
            <a:off x="548640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직접 만든다 · 함께 만든다 · 바르게 쓴다</a:t>
            </a:r>
            <a:endParaRPr lang="en-US" sz="1600" dirty="0"/>
          </a:p>
        </p:txBody>
      </p:sp>
      <p:sp>
        <p:nvSpPr>
          <p:cNvPr id="5" name="Text 0"/>
          <p:cNvSpPr/>
          <p:nvPr>
            <p:ph idx="106" type="body" hasCustomPrompt="1"/>
          </p:nvPr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질의응답  ·  canva.com/education</a:t>
            </a:r>
            <a:endParaRPr lang="en-US" sz="1200" dirty="0"/>
          </a:p>
        </p:txBody>
      </p:sp>
      <p:sp>
        <p:nvSpPr>
          <p:cNvPr id="6" name="icon-bg"/>
          <p:cNvSpPr/>
          <p:nvPr/>
        </p:nvSpPr>
        <p:spPr>
          <a:xfrm>
            <a:off x="7406640" y="822960"/>
            <a:ext cx="1463040" cy="14630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188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anva Classroom">
  <a:themeElements>
    <a:clrScheme name="Canva Classroom">
      <a:dk1>
        <a:srgbClr val="1F1640"/>
      </a:dk1>
      <a:lt1>
        <a:srgbClr val="FFFFFF"/>
      </a:lt1>
      <a:dk2>
        <a:srgbClr val="2B1055"/>
      </a:dk2>
      <a:lt2>
        <a:srgbClr val="F3EEFF"/>
      </a:lt2>
      <a:accent1>
        <a:srgbClr val="7D2AE8"/>
      </a:accent1>
      <a:accent2>
        <a:srgbClr val="00A3AA"/>
      </a:accent2>
      <a:accent3>
        <a:srgbClr val="FFB938"/>
      </a:accent3>
      <a:accent4>
        <a:srgbClr val="F2557A"/>
      </a:accent4>
      <a:accent5>
        <a:srgbClr val="2FA86B"/>
      </a:accent5>
      <a:accent6>
        <a:srgbClr val="6B6680"/>
      </a:accent6>
      <a:hlink>
        <a:srgbClr val="7D2AE8"/>
      </a:hlink>
      <a:folHlink>
        <a:srgbClr val="5A1FB0"/>
      </a:folHlink>
    </a:clrScheme>
    <a:fontScheme name="Canva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캔바(Canva) 활용 교사 연수</dc:title>
  <dc:subject>PptxGenJS Presentation</dc:subject>
  <dc:creator>교사 연수 담당</dc:creator>
  <cp:lastModifiedBy>교사 연수 담당</cp:lastModifiedBy>
  <cp:revision>1</cp:revision>
  <dcterms:created xsi:type="dcterms:W3CDTF">2026-10-07T06:53:10Z</dcterms:created>
  <dcterms:modified xsi:type="dcterms:W3CDTF">2026-10-07T06:53:10Z</dcterms:modified>
</cp:coreProperties>
</file>